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3200400" cy="3200400"/>
          </a:xfrm>
          <a:prstGeom prst="oval">
            <a:avLst/>
          </a:prstGeom>
          <a:solidFill>
            <a:srgbClr val="0E2B45"/>
          </a:solidFill>
          <a:ln w="12700">
            <a:solidFill>
              <a:srgbClr val="0E2B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2926080"/>
            <a:ext cx="2743200" cy="2743200"/>
          </a:xfrm>
          <a:prstGeom prst="oval">
            <a:avLst/>
          </a:prstGeom>
          <a:solidFill>
            <a:srgbClr val="0E2B45"/>
          </a:solidFill>
          <a:ln w="12700">
            <a:solidFill>
              <a:srgbClr val="0E2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&amp; DEVOPS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Escalamiento en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Aplicaciones Modernas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· Horizontal · Docker · Node.js · MongoDB · Microservicios · Antigravity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429000"/>
            <a:ext cx="14173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4290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3429000"/>
            <a:ext cx="14173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34290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94760" y="3429000"/>
            <a:ext cx="14173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34290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49240" y="3429000"/>
            <a:ext cx="14173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34290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3429000"/>
            <a:ext cx="14173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34290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· Resiliencia · Alta Disponibilidad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64008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el Escalamiento?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capacidad de una aplicación de manejar mayor carga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005840"/>
          </a:xfrm>
          <a:prstGeom prst="rect">
            <a:avLst/>
          </a:prstGeom>
          <a:solidFill>
            <a:srgbClr val="1B2F4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escalamiento es el proceso de ajustar los recursos de una aplicación para responder a cambios en la demanda. Una aplicación bien diseñada puede crecer sin necesidad de ser rediseñada.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2606040" cy="2514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40280"/>
            <a:ext cx="2606040" cy="91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77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Más Usuarios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255264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usuarios crece y el sistema debe soportar más conexiones simultáneas.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240280"/>
            <a:ext cx="2606040" cy="2514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240280"/>
            <a:ext cx="260604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377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91840" y="2926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Más Datos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3255264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volumen de datos aumenta y la base de datos necesita más capacidad.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240280"/>
            <a:ext cx="2606040" cy="2514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2240280"/>
            <a:ext cx="2606040" cy="91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377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26480" y="2926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Más Rendimiento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72200" y="3255264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necesita menor latencia y mayor velocidad de respuesta en producción.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64008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Escalamiento Vertical (Scale Up)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más poderoso el mismo servidor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1143000"/>
            <a:ext cx="1371600" cy="1463040"/>
          </a:xfrm>
          <a:prstGeom prst="rect">
            <a:avLst/>
          </a:prstGeom>
          <a:solidFill>
            <a:srgbClr val="1A2940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1143000"/>
            <a:ext cx="137160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88720" y="1389888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CPU: 2 cores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RAM: 4 GB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Disk: 100 GB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46504" y="2743200"/>
            <a:ext cx="73152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2651760"/>
            <a:ext cx="36576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461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⬆ UPGRADE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520440"/>
            <a:ext cx="1737360" cy="1417320"/>
          </a:xfrm>
          <a:prstGeom prst="rect">
            <a:avLst/>
          </a:prstGeom>
          <a:solidFill>
            <a:srgbClr val="1A2940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520440"/>
            <a:ext cx="173736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204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DESPUÉS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37490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CPU: 32 cores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RAM: 128 GB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Disk: 2 TB SSD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1051560"/>
            <a:ext cx="5166360" cy="3931920"/>
          </a:xfrm>
          <a:prstGeom prst="rect">
            <a:avLst/>
          </a:prstGeom>
          <a:solidFill>
            <a:srgbClr val="1B2F4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0" y="1051560"/>
            <a:ext cx="516636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20700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 del Scale Up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794760" y="16459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60520" y="16459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 de implementar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60520" y="1847088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cambios en el código de la aplicación.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94760" y="217627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60520" y="21762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complejidad de red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60520" y="237744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servidor, sin coordinación entre nodos.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94760" y="270662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60520" y="27066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Límite físico de hardware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60520" y="2907792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un punto donde no existe hardware más potente.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94760" y="323697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60520" y="323697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Costo exponencial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60520" y="3438144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el poder puede costar 10× más en servidores.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94760" y="376732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60520" y="37673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alta disponibilidad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60520" y="3968496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servidor falla, toda la app se cae (SPOF).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794760" y="42976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160520" y="42976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E8F4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Tiempo de inactividad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60520" y="4498848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upgrade requiere apagar el servidor.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64008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Escalamiento Horizontal (Scale Out)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más servidores que trabajen en paralelo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0" y="1051560"/>
            <a:ext cx="1828800" cy="594360"/>
          </a:xfrm>
          <a:prstGeom prst="rect">
            <a:avLst/>
          </a:prstGeom>
          <a:solidFill>
            <a:srgbClr val="1A4A2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0" y="1051560"/>
            <a:ext cx="18288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1704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  Load Balancer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1645920"/>
            <a:ext cx="3200400" cy="274320"/>
          </a:xfrm>
          <a:prstGeom prst="line">
            <a:avLst/>
          </a:prstGeom>
          <a:noFill/>
          <a:ln w="19050">
            <a:solidFill>
              <a:srgbClr val="2ECC71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>
            <a:off x="365760" y="1920240"/>
            <a:ext cx="1920240" cy="1417320"/>
          </a:xfrm>
          <a:prstGeom prst="rect">
            <a:avLst/>
          </a:prstGeom>
          <a:solidFill>
            <a:srgbClr val="1A2940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20240"/>
            <a:ext cx="1920240" cy="201168"/>
          </a:xfrm>
          <a:prstGeom prst="rect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202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Nodo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176272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CPU: 4 cores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RAM: 8 GB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App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activo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1645920"/>
            <a:ext cx="1280160" cy="274320"/>
          </a:xfrm>
          <a:prstGeom prst="line">
            <a:avLst/>
          </a:prstGeom>
          <a:noFill/>
          <a:ln w="19050">
            <a:solidFill>
              <a:srgbClr val="2ECC71"/>
            </a:solidFill>
            <a:prstDash val="sysDash"/>
          </a:ln>
        </p:spPr>
      </p:sp>
      <p:sp>
        <p:nvSpPr>
          <p:cNvPr id="16" name="Shape 14"/>
          <p:cNvSpPr/>
          <p:nvPr/>
        </p:nvSpPr>
        <p:spPr>
          <a:xfrm>
            <a:off x="2286000" y="1920240"/>
            <a:ext cx="1920240" cy="1417320"/>
          </a:xfrm>
          <a:prstGeom prst="rect">
            <a:avLst/>
          </a:prstGeom>
          <a:solidFill>
            <a:srgbClr val="1A2940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0" y="1920240"/>
            <a:ext cx="1920240" cy="201168"/>
          </a:xfrm>
          <a:prstGeom prst="rect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19202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Nodo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77440" y="2176272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CPU: 4 cores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RAM: 8 GB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App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30632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activo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645920"/>
            <a:ext cx="1097280" cy="274320"/>
          </a:xfrm>
          <a:prstGeom prst="line">
            <a:avLst/>
          </a:prstGeom>
          <a:noFill/>
          <a:ln w="19050">
            <a:solidFill>
              <a:srgbClr val="2ECC71"/>
            </a:solidFill>
            <a:prstDash val="sysDash"/>
          </a:ln>
        </p:spPr>
      </p:sp>
      <p:sp>
        <p:nvSpPr>
          <p:cNvPr id="22" name="Shape 20"/>
          <p:cNvSpPr/>
          <p:nvPr/>
        </p:nvSpPr>
        <p:spPr>
          <a:xfrm>
            <a:off x="4663440" y="1920240"/>
            <a:ext cx="1920240" cy="1417320"/>
          </a:xfrm>
          <a:prstGeom prst="rect">
            <a:avLst/>
          </a:prstGeom>
          <a:solidFill>
            <a:srgbClr val="1A2940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920240"/>
            <a:ext cx="1920240" cy="201168"/>
          </a:xfrm>
          <a:prstGeom prst="rect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9202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Nodo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2176272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CPU: 4 cores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RAM: 8 GB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App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0632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activo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1645920"/>
            <a:ext cx="3017520" cy="274320"/>
          </a:xfrm>
          <a:prstGeom prst="line">
            <a:avLst/>
          </a:prstGeom>
          <a:noFill/>
          <a:ln w="19050">
            <a:solidFill>
              <a:srgbClr val="2ECC71"/>
            </a:solidFill>
            <a:prstDash val="sysDash"/>
          </a:ln>
        </p:spPr>
      </p:sp>
      <p:sp>
        <p:nvSpPr>
          <p:cNvPr id="28" name="Shape 26"/>
          <p:cNvSpPr/>
          <p:nvPr/>
        </p:nvSpPr>
        <p:spPr>
          <a:xfrm>
            <a:off x="6583680" y="1920240"/>
            <a:ext cx="1920240" cy="1417320"/>
          </a:xfrm>
          <a:prstGeom prst="rect">
            <a:avLst/>
          </a:prstGeom>
          <a:solidFill>
            <a:srgbClr val="1A2940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0" y="1920240"/>
            <a:ext cx="1920240" cy="201168"/>
          </a:xfrm>
          <a:prstGeom prst="rect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19202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Nodo 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75120" y="2176272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CPU: 4 cores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RAM: 8 GB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App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30632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activo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566160"/>
            <a:ext cx="8412480" cy="1417320"/>
          </a:xfrm>
          <a:prstGeom prst="rect">
            <a:avLst/>
          </a:prstGeom>
          <a:solidFill>
            <a:srgbClr val="1B2F4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566160"/>
            <a:ext cx="8412480" cy="91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703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Alta disponibilidad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3959352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nodo falla, el LB redirige el tráfico a los demás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24328" y="3703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Escalamiento infinito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624328" y="3959352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agrega más nodos cuando hay más demanda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45736" y="3703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Sin punto único de falla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45736" y="3959352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Redundancia natural entre los nodos del clúster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67144" y="3703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Costos controlados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67144" y="3959352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pequeños servidores baratos en vez de uno grande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64008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 vs Horizontal: Comparación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cada estrategia?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2377440" cy="493776"/>
          </a:xfrm>
          <a:prstGeom prst="rect">
            <a:avLst/>
          </a:prstGeom>
          <a:solidFill>
            <a:srgbClr val="1E3A5F"/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1051560"/>
            <a:ext cx="2971800" cy="493776"/>
          </a:xfrm>
          <a:prstGeom prst="rect">
            <a:avLst/>
          </a:prstGeom>
          <a:solidFill>
            <a:srgbClr val="1E3A5F"/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05156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⬆ Vertical (Scale Up)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1051560"/>
            <a:ext cx="2971800" cy="493776"/>
          </a:xfrm>
          <a:prstGeom prst="rect">
            <a:avLst/>
          </a:prstGeom>
          <a:solidFill>
            <a:srgbClr val="1E3A5F"/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05156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➡ Horizontal (Scale Out)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1545336"/>
            <a:ext cx="2377440" cy="493776"/>
          </a:xfrm>
          <a:prstGeom prst="rect">
            <a:avLst/>
          </a:prstGeom>
          <a:solidFill>
            <a:srgbClr val="0D1B2A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545336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1545336"/>
            <a:ext cx="2971800" cy="493776"/>
          </a:xfrm>
          <a:prstGeom prst="rect">
            <a:avLst/>
          </a:prstGeom>
          <a:solidFill>
            <a:srgbClr val="0D1B2A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545336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— solo más hardware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1545336"/>
            <a:ext cx="2971800" cy="493776"/>
          </a:xfrm>
          <a:prstGeom prst="rect">
            <a:avLst/>
          </a:prstGeom>
          <a:solidFill>
            <a:srgbClr val="0D1B2A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545336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— requiere diseño distribuido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039112"/>
            <a:ext cx="2377440" cy="493776"/>
          </a:xfrm>
          <a:prstGeom prst="rect">
            <a:avLst/>
          </a:prstGeom>
          <a:solidFill>
            <a:srgbClr val="131F2E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03911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escala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88920" y="2039112"/>
            <a:ext cx="2971800" cy="493776"/>
          </a:xfrm>
          <a:prstGeom prst="rect">
            <a:avLst/>
          </a:prstGeom>
          <a:solidFill>
            <a:srgbClr val="131F2E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80360" y="2039112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del hardware (SPOF)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2039112"/>
            <a:ext cx="2971800" cy="493776"/>
          </a:xfrm>
          <a:prstGeom prst="rect">
            <a:avLst/>
          </a:prstGeom>
          <a:solidFill>
            <a:srgbClr val="131F2E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2039112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Prácticamente ilimitado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2532888"/>
            <a:ext cx="2377440" cy="493776"/>
          </a:xfrm>
          <a:prstGeom prst="rect">
            <a:avLst/>
          </a:prstGeom>
          <a:solidFill>
            <a:srgbClr val="0D1B2A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53288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88920" y="2532888"/>
            <a:ext cx="2971800" cy="493776"/>
          </a:xfrm>
          <a:prstGeom prst="rect">
            <a:avLst/>
          </a:prstGeom>
          <a:solidFill>
            <a:srgbClr val="0D1B2A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2532888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Exponencial con la potencia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2532888"/>
            <a:ext cx="2971800" cy="493776"/>
          </a:xfrm>
          <a:prstGeom prst="rect">
            <a:avLst/>
          </a:prstGeom>
          <a:solidFill>
            <a:srgbClr val="0D1B2A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2532888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Lineal, servidores económicos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026664"/>
            <a:ext cx="2377440" cy="493776"/>
          </a:xfrm>
          <a:prstGeom prst="rect">
            <a:avLst/>
          </a:prstGeom>
          <a:solidFill>
            <a:srgbClr val="131F2E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026664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88920" y="3026664"/>
            <a:ext cx="2971800" cy="493776"/>
          </a:xfrm>
          <a:prstGeom prst="rect">
            <a:avLst/>
          </a:prstGeom>
          <a:solidFill>
            <a:srgbClr val="131F2E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0360" y="3026664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un servidor = un fallo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60720" y="3026664"/>
            <a:ext cx="2971800" cy="493776"/>
          </a:xfrm>
          <a:prstGeom prst="rect">
            <a:avLst/>
          </a:prstGeom>
          <a:solidFill>
            <a:srgbClr val="131F2E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3026664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redundancia entre nodos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3520440"/>
            <a:ext cx="2377440" cy="493776"/>
          </a:xfrm>
          <a:prstGeom prst="rect">
            <a:avLst/>
          </a:prstGeom>
          <a:solidFill>
            <a:srgbClr val="0D1B2A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520440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código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88920" y="3520440"/>
            <a:ext cx="2971800" cy="493776"/>
          </a:xfrm>
          <a:prstGeom prst="rect">
            <a:avLst/>
          </a:prstGeom>
          <a:solidFill>
            <a:srgbClr val="0D1B2A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80360" y="352044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necesario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760720" y="3520440"/>
            <a:ext cx="2971800" cy="493776"/>
          </a:xfrm>
          <a:prstGeom prst="rect">
            <a:avLst/>
          </a:prstGeom>
          <a:solidFill>
            <a:srgbClr val="0D1B2A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52160" y="352044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sesiones compartidas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11480" y="4014216"/>
            <a:ext cx="2377440" cy="493776"/>
          </a:xfrm>
          <a:prstGeom prst="rect">
            <a:avLst/>
          </a:prstGeom>
          <a:solidFill>
            <a:srgbClr val="131F2E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014216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inactivo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88920" y="4014216"/>
            <a:ext cx="2971800" cy="493776"/>
          </a:xfrm>
          <a:prstGeom prst="rect">
            <a:avLst/>
          </a:prstGeom>
          <a:solidFill>
            <a:srgbClr val="131F2E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80360" y="4014216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al hacer upgrade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60720" y="4014216"/>
            <a:ext cx="2971800" cy="493776"/>
          </a:xfrm>
          <a:prstGeom prst="rect">
            <a:avLst/>
          </a:prstGeom>
          <a:solidFill>
            <a:srgbClr val="131F2E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60" y="4014216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rolling deployments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11480" y="4507992"/>
            <a:ext cx="2377440" cy="493776"/>
          </a:xfrm>
          <a:prstGeom prst="rect">
            <a:avLst/>
          </a:prstGeom>
          <a:solidFill>
            <a:srgbClr val="0D1B2A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50799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88920" y="4507992"/>
            <a:ext cx="2971800" cy="493776"/>
          </a:xfrm>
          <a:prstGeom prst="rect">
            <a:avLst/>
          </a:prstGeom>
          <a:solidFill>
            <a:srgbClr val="0D1B2A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80360" y="4507992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legacy, DBs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760720" y="4507992"/>
            <a:ext cx="2971800" cy="493776"/>
          </a:xfrm>
          <a:prstGeom prst="rect">
            <a:avLst/>
          </a:prstGeom>
          <a:solidFill>
            <a:srgbClr val="0D1B2A"/>
          </a:solidFill>
          <a:ln w="6350">
            <a:solidFill>
              <a:srgbClr val="1B2F4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52160" y="4507992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apps, APIs, microservicios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Recomendación: empezar con vertical para simplificar y migrar a horizontal al crecer.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678DD"/>
          </a:solidFill>
          <a:ln w="12700">
            <a:solidFill>
              <a:srgbClr val="C678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64008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Monolito vs Microservicios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de la app define qué tan bien puede escalar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840480" cy="3977640"/>
          </a:xfrm>
          <a:prstGeom prst="rect">
            <a:avLst/>
          </a:prstGeom>
          <a:solidFill>
            <a:srgbClr val="1A1A2E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3840480" cy="320040"/>
          </a:xfrm>
          <a:prstGeom prst="rect">
            <a:avLst/>
          </a:prstGeom>
          <a:solidFill>
            <a:srgbClr val="4A1A5E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🧱  Arquitectura Monolítica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3474720" cy="3291840"/>
          </a:xfrm>
          <a:prstGeom prst="rect">
            <a:avLst/>
          </a:prstGeom>
          <a:solidFill>
            <a:srgbClr val="2D0B40"/>
          </a:solidFill>
          <a:ln w="19050">
            <a:solidFill>
              <a:srgbClr val="C678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600200"/>
            <a:ext cx="3108960" cy="411480"/>
          </a:xfrm>
          <a:prstGeom prst="rect">
            <a:avLst/>
          </a:prstGeom>
          <a:solidFill>
            <a:srgbClr val="3D1A50"/>
          </a:solidFill>
          <a:ln w="6350">
            <a:solidFill>
              <a:srgbClr val="5A2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00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Frontend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112264"/>
            <a:ext cx="3108960" cy="411480"/>
          </a:xfrm>
          <a:prstGeom prst="rect">
            <a:avLst/>
          </a:prstGeom>
          <a:solidFill>
            <a:srgbClr val="3D1A50"/>
          </a:solidFill>
          <a:ln w="6350">
            <a:solidFill>
              <a:srgbClr val="5A2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11226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624328"/>
            <a:ext cx="3108960" cy="411480"/>
          </a:xfrm>
          <a:prstGeom prst="rect">
            <a:avLst/>
          </a:prstGeom>
          <a:solidFill>
            <a:srgbClr val="3D1A50"/>
          </a:solidFill>
          <a:ln w="6350">
            <a:solidFill>
              <a:srgbClr val="5A2A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6243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136392"/>
            <a:ext cx="3108960" cy="411480"/>
          </a:xfrm>
          <a:prstGeom prst="rect">
            <a:avLst/>
          </a:prstGeom>
          <a:solidFill>
            <a:srgbClr val="3D1A50"/>
          </a:solidFill>
          <a:ln w="6350">
            <a:solidFill>
              <a:srgbClr val="5A2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363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648456"/>
            <a:ext cx="3108960" cy="411480"/>
          </a:xfrm>
          <a:prstGeom prst="rect">
            <a:avLst/>
          </a:prstGeom>
          <a:solidFill>
            <a:srgbClr val="3D1A50"/>
          </a:solidFill>
          <a:ln w="6350">
            <a:solidFill>
              <a:srgbClr val="5A2A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64845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160520"/>
            <a:ext cx="3108960" cy="411480"/>
          </a:xfrm>
          <a:prstGeom prst="rect">
            <a:avLst/>
          </a:prstGeom>
          <a:solidFill>
            <a:srgbClr val="3D1A50"/>
          </a:solidFill>
          <a:ln w="6350">
            <a:solidFill>
              <a:srgbClr val="5A2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60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7731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Escalar = escalar TODO el monolito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005840"/>
            <a:ext cx="4160520" cy="3977640"/>
          </a:xfrm>
          <a:prstGeom prst="rect">
            <a:avLst/>
          </a:prstGeom>
          <a:solidFill>
            <a:srgbClr val="0D1E1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005840"/>
            <a:ext cx="4160520" cy="32004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0058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🧩  Microservicios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0600" y="1417320"/>
            <a:ext cx="1828800" cy="868680"/>
          </a:xfrm>
          <a:prstGeom prst="rect">
            <a:avLst/>
          </a:prstGeom>
          <a:solidFill>
            <a:srgbClr val="1A2E26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1417320"/>
            <a:ext cx="1828800" cy="91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527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57800" y="154533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user-service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19476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MongoDB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0600" y="2423160"/>
            <a:ext cx="1828800" cy="868680"/>
          </a:xfrm>
          <a:prstGeom prst="rect">
            <a:avLst/>
          </a:prstGeom>
          <a:solidFill>
            <a:srgbClr val="1A2E26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2423160"/>
            <a:ext cx="18288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532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57800" y="255117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auth-service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92040" y="2953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MongoDB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0600" y="3429000"/>
            <a:ext cx="1828800" cy="868680"/>
          </a:xfrm>
          <a:prstGeom prst="rect">
            <a:avLst/>
          </a:prstGeom>
          <a:solidFill>
            <a:srgbClr val="1A2E26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3429000"/>
            <a:ext cx="1828800" cy="91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257800" y="35570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order-service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92040" y="3959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MongoDB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812280" y="1417320"/>
            <a:ext cx="1828800" cy="868680"/>
          </a:xfrm>
          <a:prstGeom prst="rect">
            <a:avLst/>
          </a:prstGeom>
          <a:solidFill>
            <a:srgbClr val="1A2E26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12280" y="1417320"/>
            <a:ext cx="1828800" cy="914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1527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69480" y="154533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1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notify-service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03720" y="19476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MongoDB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812280" y="2423160"/>
            <a:ext cx="1828800" cy="868680"/>
          </a:xfrm>
          <a:prstGeom prst="rect">
            <a:avLst/>
          </a:prstGeom>
          <a:solidFill>
            <a:srgbClr val="1A2E26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12280" y="2423160"/>
            <a:ext cx="1828800" cy="91440"/>
          </a:xfrm>
          <a:prstGeom prst="rect">
            <a:avLst/>
          </a:prstGeom>
          <a:solidFill>
            <a:srgbClr val="61AFEF"/>
          </a:solidFill>
          <a:ln w="12700">
            <a:solidFill>
              <a:srgbClr val="61AF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03720" y="2532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269480" y="255117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report-service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903720" y="2953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MongoDB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754880" y="4773168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Escalar solo el servicio con mayor carga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64008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Docker: Escalar Contenedores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esenciales para gestionar instancias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297680" cy="3977640"/>
          </a:xfrm>
          <a:prstGeom prst="rect">
            <a:avLst/>
          </a:prstGeom>
          <a:solidFill>
            <a:srgbClr val="1B2F4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🐳  Comandos de Escalamiento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417320"/>
            <a:ext cx="4160520" cy="1325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499616"/>
            <a:ext cx="91440" cy="91440"/>
          </a:xfrm>
          <a:prstGeom prst="oval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499616"/>
            <a:ext cx="91440" cy="9144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499616"/>
            <a:ext cx="91440" cy="91440"/>
          </a:xfrm>
          <a:prstGeom prst="oval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1645920"/>
            <a:ext cx="3941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Escalar un servicio (Docker Compose)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--scale api=5 -d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instancias activas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788920"/>
            <a:ext cx="416052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" y="2871216"/>
            <a:ext cx="91440" cy="91440"/>
          </a:xfrm>
          <a:prstGeom prst="oval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871216"/>
            <a:ext cx="91440" cy="9144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871216"/>
            <a:ext cx="91440" cy="91440"/>
          </a:xfrm>
          <a:prstGeom prst="oval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017520"/>
            <a:ext cx="3941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Swarm — escalar servicio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service scale api=10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estado de réplicas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service 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service ps mi-api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4206240"/>
            <a:ext cx="4160520" cy="7315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" y="4288536"/>
            <a:ext cx="91440" cy="91440"/>
          </a:xfrm>
          <a:prstGeom prst="oval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288536"/>
            <a:ext cx="91440" cy="9144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288536"/>
            <a:ext cx="91440" cy="91440"/>
          </a:xfrm>
          <a:prstGeom prst="oval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4434840"/>
            <a:ext cx="3941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Actualizar sin downtime (rolling)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service update --image api:v2 mi-api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4069080" cy="3977640"/>
          </a:xfrm>
          <a:prstGeom prst="rect">
            <a:avLst/>
          </a:prstGeom>
          <a:solidFill>
            <a:srgbClr val="1B2F4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10515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 docker-compose.yml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18888" y="1417320"/>
            <a:ext cx="3931920" cy="3520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28616" y="1499616"/>
            <a:ext cx="91440" cy="91440"/>
          </a:xfrm>
          <a:prstGeom prst="oval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93208" y="1499616"/>
            <a:ext cx="91440" cy="9144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57800" y="1499616"/>
            <a:ext cx="91440" cy="91440"/>
          </a:xfrm>
          <a:prstGeom prst="oval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8616" y="1645920"/>
            <a:ext cx="371246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'3.8'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my-node-api:latest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deploy: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replicas: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resources: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limits: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cpus: '0.5'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memory: 512M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restart_policy: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condition: on-failure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'3000-3004:3000'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nginx: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nginx:alpine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'80:80'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[api]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8A063"/>
          </a:solidFill>
          <a:ln w="12700">
            <a:solidFill>
              <a:srgbClr val="68A0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64008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Node.js: Microservicio Stateless y Escalable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correcto para poder replicar sin problemas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029200" cy="3977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088136"/>
            <a:ext cx="91440" cy="91440"/>
          </a:xfrm>
          <a:prstGeom prst="oval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088136"/>
            <a:ext cx="91440" cy="9144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088136"/>
            <a:ext cx="91440" cy="91440"/>
          </a:xfrm>
          <a:prstGeom prst="oval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234440"/>
            <a:ext cx="480974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 — Microservicio Node.js Stateless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express = require('express');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mongoose = require('mongoose');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redis    = require('redis');   // sesiones compartidas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app = express();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Stateless: sesión en Redis, NO en memoria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session = require('express-session');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RedisStore = require('connect-redis')(session);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app.use(session({ store: new RedisStore({...}), ... }));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Health check requerido para el Load Balancer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app.get('/health', (req, res)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res.json({ status: 'ok', pid: process.pid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Graceful shutdown para rolling deploys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process.on('SIGTERM', 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server.close(() =&gt; process.exit(0));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32120" y="1005840"/>
            <a:ext cx="3291840" cy="3977640"/>
          </a:xfrm>
          <a:prstGeom prst="rect">
            <a:avLst/>
          </a:prstGeom>
          <a:solidFill>
            <a:srgbClr val="1B2F4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1051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8A0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Principios Clave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23560" y="14630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16752" y="1463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A0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Stateless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16752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guardar estado local. Usar Redis o MongoDB para estado compartido.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23560" y="20391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16752" y="203911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A0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Check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16752" y="2240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/health para que el LB detecte fallos y retire el nodo.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23560" y="261518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16752" y="261518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A0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Logs a stdout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16752" y="28163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escribir a archivos. El orquestador recolecta los logs.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23560" y="319125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16752" y="319125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A0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 por ENV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16752" y="33924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para DB_URL, PORT, JWT_SECRET.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23560" y="37673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🛑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16752" y="37673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A0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 Stop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16752" y="39684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SIGTERM para cerrar conexiones antes de detenerse.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23560" y="43434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16752" y="434340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A0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 dinámico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16752" y="45445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process.env.PORT para que el orquestador asigne el puerto.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DB33D"/>
          </a:solidFill>
          <a:ln w="12700">
            <a:solidFill>
              <a:srgbClr val="4DB3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64008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MongoDB: Replica Set (Alta Disponibilidad)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Replicación automática entre 3 nodos o más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54480" y="2011680"/>
            <a:ext cx="1828800" cy="777240"/>
          </a:xfrm>
          <a:prstGeom prst="line">
            <a:avLst/>
          </a:prstGeom>
          <a:noFill/>
          <a:ln w="19050">
            <a:solidFill>
              <a:srgbClr val="00BFA5"/>
            </a:solidFill>
            <a:prstDash val="sysDash"/>
          </a:ln>
        </p:spPr>
      </p:sp>
      <p:sp>
        <p:nvSpPr>
          <p:cNvPr id="7" name="Shape 5"/>
          <p:cNvSpPr/>
          <p:nvPr/>
        </p:nvSpPr>
        <p:spPr>
          <a:xfrm>
            <a:off x="1554480" y="2011680"/>
            <a:ext cx="4754880" cy="777240"/>
          </a:xfrm>
          <a:prstGeom prst="line">
            <a:avLst/>
          </a:prstGeom>
          <a:noFill/>
          <a:ln w="19050">
            <a:solidFill>
              <a:srgbClr val="00BFA5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4480560" y="2788920"/>
            <a:ext cx="1828800" cy="0"/>
          </a:xfrm>
          <a:prstGeom prst="line">
            <a:avLst/>
          </a:prstGeom>
          <a:noFill/>
          <a:ln w="19050">
            <a:solidFill>
              <a:srgbClr val="00BFA5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457200" y="1508760"/>
            <a:ext cx="2194560" cy="1097280"/>
          </a:xfrm>
          <a:prstGeom prst="rect">
            <a:avLst/>
          </a:prstGeom>
          <a:solidFill>
            <a:srgbClr val="1A2E1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508760"/>
            <a:ext cx="2194560" cy="237744"/>
          </a:xfrm>
          <a:prstGeom prst="rect">
            <a:avLst/>
          </a:prstGeom>
          <a:solidFill>
            <a:srgbClr val="4DB33D"/>
          </a:solidFill>
          <a:ln w="12700">
            <a:solidFill>
              <a:srgbClr val="4DB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0876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783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  MongoDB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mongodb://mongo:27017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3134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+ Escritura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2286000"/>
            <a:ext cx="2194560" cy="1097280"/>
          </a:xfrm>
          <a:prstGeom prst="rect">
            <a:avLst/>
          </a:prstGeom>
          <a:solidFill>
            <a:srgbClr val="1A2E1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2286000"/>
            <a:ext cx="2194560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2860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560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  MongoDB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mongodb://mongo:27017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30906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lectura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2286000"/>
            <a:ext cx="2194560" cy="1097280"/>
          </a:xfrm>
          <a:prstGeom prst="rect">
            <a:avLst/>
          </a:prstGeom>
          <a:solidFill>
            <a:srgbClr val="1A2E1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2286000"/>
            <a:ext cx="2194560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2860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560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  MongoDB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mongodb://mongo:27017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30906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lectura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Failover automático: si Primary falla, un Secondary es elegido nuevo Primary en segundos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886200"/>
            <a:ext cx="4343400" cy="1143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768" y="3968496"/>
            <a:ext cx="91440" cy="91440"/>
          </a:xfrm>
          <a:prstGeom prst="oval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968496"/>
            <a:ext cx="91440" cy="9144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" y="3968496"/>
            <a:ext cx="91440" cy="91440"/>
          </a:xfrm>
          <a:prstGeom prst="oval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4114800"/>
            <a:ext cx="4123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Inicializar Replica Set en Docker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mongo1 mongosh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rs.initiate({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_id: 'rs0', members: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{_id:0, host:'mongo1:27017'},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{_id:1, host:'mongo2:27017'},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{_id:2, host:'mongo3:27017'}]});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886200"/>
            <a:ext cx="4023360" cy="1143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10328" y="3968496"/>
            <a:ext cx="91440" cy="91440"/>
          </a:xfrm>
          <a:prstGeom prst="oval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74920" y="3968496"/>
            <a:ext cx="91440" cy="9144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39512" y="3968496"/>
            <a:ext cx="91440" cy="91440"/>
          </a:xfrm>
          <a:prstGeom prst="oval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4114800"/>
            <a:ext cx="3803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Conexión Mongoose con Replica 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mongoose.connect(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'mongodb://mongo1,mongo2,mongo3/db'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'?replicaSet=rs0'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'&amp;readPreference=secondaryPreferred'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DB33D"/>
          </a:solidFill>
          <a:ln w="12700">
            <a:solidFill>
              <a:srgbClr val="4DB3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64008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MongoDB: Sharding (Escalamiento Horizontal)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 datos entre múltiples shards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146304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241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  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1344168"/>
            <a:ext cx="731520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024128"/>
            <a:ext cx="1645920" cy="640080"/>
          </a:xfrm>
          <a:prstGeom prst="rect">
            <a:avLst/>
          </a:prstGeom>
          <a:solidFill>
            <a:srgbClr val="1A3A2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24128"/>
            <a:ext cx="1645920" cy="73152"/>
          </a:xfrm>
          <a:prstGeom prst="rect">
            <a:avLst/>
          </a:prstGeom>
          <a:solidFill>
            <a:srgbClr val="4DB33D"/>
          </a:solidFill>
          <a:ln w="12700">
            <a:solidFill>
              <a:srgbClr val="4DB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9728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B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  mongos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DB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Router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1344168"/>
            <a:ext cx="640080" cy="73152"/>
          </a:xfrm>
          <a:prstGeom prst="line">
            <a:avLst/>
          </a:prstGeom>
          <a:noFill/>
          <a:ln w="12700">
            <a:solidFill>
              <a:srgbClr val="F5A623"/>
            </a:solidFill>
            <a:prstDash val="sysDash"/>
          </a:ln>
        </p:spPr>
      </p:sp>
      <p:sp>
        <p:nvSpPr>
          <p:cNvPr id="13" name="Shape 11"/>
          <p:cNvSpPr/>
          <p:nvPr/>
        </p:nvSpPr>
        <p:spPr>
          <a:xfrm>
            <a:off x="4754880" y="1005840"/>
            <a:ext cx="1691640" cy="1005840"/>
          </a:xfrm>
          <a:prstGeom prst="rect">
            <a:avLst/>
          </a:prstGeom>
          <a:solidFill>
            <a:srgbClr val="1A2E1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05840"/>
            <a:ext cx="169164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00584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Shard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8032" y="12344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  Replica Set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_id: 0-1000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0" y="1344168"/>
            <a:ext cx="2468880" cy="73152"/>
          </a:xfrm>
          <a:prstGeom prst="line">
            <a:avLst/>
          </a:prstGeom>
          <a:noFill/>
          <a:ln w="12700">
            <a:solidFill>
              <a:srgbClr val="F5A623"/>
            </a:solidFill>
            <a:prstDash val="sysDash"/>
          </a:ln>
        </p:spPr>
      </p:sp>
      <p:sp>
        <p:nvSpPr>
          <p:cNvPr id="18" name="Shape 16"/>
          <p:cNvSpPr/>
          <p:nvPr/>
        </p:nvSpPr>
        <p:spPr>
          <a:xfrm>
            <a:off x="6583680" y="1005840"/>
            <a:ext cx="1691640" cy="1005840"/>
          </a:xfrm>
          <a:prstGeom prst="rect">
            <a:avLst/>
          </a:prstGeom>
          <a:solidFill>
            <a:srgbClr val="1A2E1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1005840"/>
            <a:ext cx="169164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00584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Shard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56832" y="12344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  Replica Set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_id: 1001-2000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0" y="1344168"/>
            <a:ext cx="640080" cy="1399032"/>
          </a:xfrm>
          <a:prstGeom prst="line">
            <a:avLst/>
          </a:prstGeom>
          <a:noFill/>
          <a:ln w="12700">
            <a:solidFill>
              <a:srgbClr val="F5A623"/>
            </a:solidFill>
            <a:prstDash val="sysDash"/>
          </a:ln>
        </p:spPr>
      </p:sp>
      <p:sp>
        <p:nvSpPr>
          <p:cNvPr id="23" name="Shape 21"/>
          <p:cNvSpPr/>
          <p:nvPr/>
        </p:nvSpPr>
        <p:spPr>
          <a:xfrm>
            <a:off x="4754880" y="2331720"/>
            <a:ext cx="1691640" cy="1005840"/>
          </a:xfrm>
          <a:prstGeom prst="rect">
            <a:avLst/>
          </a:prstGeom>
          <a:solidFill>
            <a:srgbClr val="1A2E1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331720"/>
            <a:ext cx="169164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33172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Shard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28032" y="25603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  Replica Set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_id: 2001-3000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0" y="1344168"/>
            <a:ext cx="2468880" cy="1399032"/>
          </a:xfrm>
          <a:prstGeom prst="line">
            <a:avLst/>
          </a:prstGeom>
          <a:noFill/>
          <a:ln w="12700">
            <a:solidFill>
              <a:srgbClr val="F5A623"/>
            </a:solidFill>
            <a:prstDash val="sysDash"/>
          </a:ln>
        </p:spPr>
      </p:sp>
      <p:sp>
        <p:nvSpPr>
          <p:cNvPr id="28" name="Shape 26"/>
          <p:cNvSpPr/>
          <p:nvPr/>
        </p:nvSpPr>
        <p:spPr>
          <a:xfrm>
            <a:off x="6583680" y="2331720"/>
            <a:ext cx="1691640" cy="1005840"/>
          </a:xfrm>
          <a:prstGeom prst="rect">
            <a:avLst/>
          </a:prstGeom>
          <a:solidFill>
            <a:srgbClr val="1A2E1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0" y="2331720"/>
            <a:ext cx="169164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33172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Shard 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56832" y="25603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  Replica Set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_id: 3001+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2011680"/>
            <a:ext cx="4206240" cy="2926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9768" y="2093976"/>
            <a:ext cx="91440" cy="91440"/>
          </a:xfrm>
          <a:prstGeom prst="oval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2093976"/>
            <a:ext cx="91440" cy="9144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" y="2093976"/>
            <a:ext cx="91440" cy="91440"/>
          </a:xfrm>
          <a:prstGeom prst="oval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2240280"/>
            <a:ext cx="39867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Habilitar sharding en MongoDB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admin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db.adminCommand({ enableSharding: 'mydb' })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Elegir shard key (campo de distribución)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sh.shardCollection(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'mydb.orders',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userId: 'hashed' }    // hashed = distribución uniforme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estado del cluster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sh.status()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db.orders.getShardDistribution()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Compose con sharding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mongos + configsvr + shard1 + shard2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64008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Antigravity: Deployments Sin Fricción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para escalar y desplegar apps en servidores propios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solidFill>
            <a:srgbClr val="1B2F4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91440" cy="8229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042416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es una herramienta de deployment que permite escalar aplicaciones Docker en servidores propios (bare-metal o VPS) sin necesitar Kubernetes. Funciona con Docker Swarm y es especialmente útil para Node.js + MongoDB.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01952"/>
            <a:ext cx="4892040" cy="3063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" y="1984248"/>
            <a:ext cx="91440" cy="91440"/>
          </a:xfrm>
          <a:prstGeom prst="oval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984248"/>
            <a:ext cx="91440" cy="9144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1984248"/>
            <a:ext cx="91440" cy="91440"/>
          </a:xfrm>
          <a:prstGeom prst="oval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130552"/>
            <a:ext cx="46725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Instalar Antigravity (CLI Node.js)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antigravity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Inicializar proyecto con Docker + Node.js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antigravity init --runtime node --db mongo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Desplegar con escalamiento automático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antigravity deploy --replicas 5 --env production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Escalar un servicio específico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antigravity scale api --instances 10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estado de servicios en el cluster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antigravity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antigravity logs api --follow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Rollback a versión anterior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antigravity rollback api --version v1.2.0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901952"/>
            <a:ext cx="3474720" cy="3063240"/>
          </a:xfrm>
          <a:prstGeom prst="rect">
            <a:avLst/>
          </a:prstGeom>
          <a:solidFill>
            <a:srgbClr val="1B2F4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49240" y="1901952"/>
            <a:ext cx="347472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2029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¿Qué hace Antigravity?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40680" y="242316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🐳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33872" y="2423160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Swarm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33872" y="2606040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 contenedores con replicas, secrets y configs.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40680" y="286207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⚖️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33872" y="2862072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Balancing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33872" y="3044952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integrado como reverse proxy automático.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40680" y="3300984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33872" y="3300984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Zero-downtime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33872" y="3483864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deploys sin interrumpir el servicio.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40680" y="3739896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33872" y="3739896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Auto-scaling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33872" y="3922776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automáticamente según CPU y memoria.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40680" y="4178808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🔒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833872" y="4178808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SSL automático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33872" y="4361688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Encrypt gestionado automáticamente.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40680" y="461772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🗄 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833872" y="4617720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 Ready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33872" y="4800600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nativo para Replica Set en el cluster.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64008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 Completo: Node.js + MongoDB + Docker Escalado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desarrollo a producción con múltiples réplicas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132588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078992"/>
            <a:ext cx="402336" cy="402336"/>
          </a:xfrm>
          <a:prstGeom prst="oval">
            <a:avLst/>
          </a:prstGeom>
          <a:solidFill>
            <a:srgbClr val="68A063"/>
          </a:solidFill>
          <a:ln w="12700">
            <a:solidFill>
              <a:srgbClr val="68A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78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197510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8A0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Dockerfile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340864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stateless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91640" y="2029968"/>
            <a:ext cx="118872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10512" y="1024128"/>
            <a:ext cx="132588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67712" y="1078992"/>
            <a:ext cx="402336" cy="402336"/>
          </a:xfrm>
          <a:prstGeom prst="oval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67712" y="1078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01952" y="153619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🐳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56232" y="197510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56232" y="2340864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y redes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36392" y="2029968"/>
            <a:ext cx="118872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55264" y="1024128"/>
            <a:ext cx="132588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12464" y="1078992"/>
            <a:ext cx="402336" cy="402336"/>
          </a:xfrm>
          <a:prstGeom prst="oval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12464" y="1078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46704" y="153619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00984" y="197510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00984" y="2340864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/ Traefik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81144" y="2029968"/>
            <a:ext cx="118872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0016" y="1024128"/>
            <a:ext cx="132588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57216" y="1078992"/>
            <a:ext cx="402336" cy="402336"/>
          </a:xfrm>
          <a:prstGeom prst="oval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57216" y="1078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91456" y="153619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745736" y="197510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Réplicas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45736" y="2340864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node.js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25896" y="2029968"/>
            <a:ext cx="118872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44768" y="1024128"/>
            <a:ext cx="132588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01968" y="1078992"/>
            <a:ext cx="402336" cy="402336"/>
          </a:xfrm>
          <a:prstGeom prst="oval">
            <a:avLst/>
          </a:prstGeom>
          <a:solidFill>
            <a:srgbClr val="4DB33D"/>
          </a:solidFill>
          <a:ln w="12700">
            <a:solidFill>
              <a:srgbClr val="4DB3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01968" y="1078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36208" y="153619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 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190488" y="197510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B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DB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90488" y="2340864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nodos + failover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470648" y="2029968"/>
            <a:ext cx="118872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89520" y="1024128"/>
            <a:ext cx="132588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046720" y="1078992"/>
            <a:ext cx="402336" cy="402336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0" y="1078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680960" y="153619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635240" y="197510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Antigravity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35240" y="2340864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+ Scale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3200400"/>
            <a:ext cx="4160520" cy="1828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29768" y="3282696"/>
            <a:ext cx="91440" cy="91440"/>
          </a:xfrm>
          <a:prstGeom prst="oval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" y="3282696"/>
            <a:ext cx="91440" cy="9144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8952" y="3282696"/>
            <a:ext cx="91440" cy="91440"/>
          </a:xfrm>
          <a:prstGeom prst="oval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9768" y="3429000"/>
            <a:ext cx="3941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Dockerfile optimizado para escalamiento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 AS 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 --only=production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NODE_ENV=production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 "app.js"]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63440" y="3200400"/>
            <a:ext cx="4160520" cy="1828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73168" y="3282696"/>
            <a:ext cx="91440" cy="91440"/>
          </a:xfrm>
          <a:prstGeom prst="oval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37760" y="3282696"/>
            <a:ext cx="91440" cy="9144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02352" y="3282696"/>
            <a:ext cx="91440" cy="91440"/>
          </a:xfrm>
          <a:prstGeom prst="oval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73168" y="3429000"/>
            <a:ext cx="3941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Iniciar cluster con Antigravity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swarm init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y push imagen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my-api:v1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registry/my-api:v1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Deploy completo con Antigravity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antigravity deploy --replicas 5 --env prod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64008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de Comandos Principales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 · Node.js · MongoDB · Antigravity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4160520" cy="1828800"/>
          </a:xfrm>
          <a:prstGeom prst="rect">
            <a:avLst/>
          </a:prstGeom>
          <a:solidFill>
            <a:srgbClr val="1B2F4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4160520" cy="274320"/>
          </a:xfrm>
          <a:prstGeom prst="rect">
            <a:avLst/>
          </a:prstGeom>
          <a:solidFill>
            <a:srgbClr val="2496ED">
              <a:alpha val="20000"/>
            </a:srgbClr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24128"/>
            <a:ext cx="64008" cy="27432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0241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🐳 Docker &amp; Swarm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316736"/>
            <a:ext cx="4069080" cy="148132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1399032"/>
            <a:ext cx="91440" cy="91440"/>
          </a:xfrm>
          <a:prstGeom prst="oval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399032"/>
            <a:ext cx="91440" cy="9144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1399032"/>
            <a:ext cx="91440" cy="91440"/>
          </a:xfrm>
          <a:prstGeom prst="oval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545336"/>
            <a:ext cx="38496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swarm init                    # Crear cluster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stack deploy -c compose.yml app  # Deploy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service scale app_api=8       # Escalar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service update --image v2 api # Rolling 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node ls                       # Ver nodos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24128"/>
            <a:ext cx="4160520" cy="1828800"/>
          </a:xfrm>
          <a:prstGeom prst="rect">
            <a:avLst/>
          </a:prstGeom>
          <a:solidFill>
            <a:srgbClr val="1B2F4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24128"/>
            <a:ext cx="4160520" cy="274320"/>
          </a:xfrm>
          <a:prstGeom prst="rect">
            <a:avLst/>
          </a:prstGeom>
          <a:solidFill>
            <a:srgbClr val="68A063">
              <a:alpha val="20000"/>
            </a:srgbClr>
          </a:solidFill>
          <a:ln w="12700">
            <a:solidFill>
              <a:srgbClr val="68A0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024128"/>
            <a:ext cx="64008" cy="274320"/>
          </a:xfrm>
          <a:prstGeom prst="rect">
            <a:avLst/>
          </a:prstGeom>
          <a:solidFill>
            <a:srgbClr val="68A063"/>
          </a:solidFill>
          <a:ln w="12700">
            <a:solidFill>
              <a:srgbClr val="68A0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0241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A0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🟢 Node.js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316736"/>
            <a:ext cx="4069080" cy="148132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1399032"/>
            <a:ext cx="91440" cy="91440"/>
          </a:xfrm>
          <a:prstGeom prst="oval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3480" y="1399032"/>
            <a:ext cx="91440" cy="9144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48072" y="1399032"/>
            <a:ext cx="91440" cy="91440"/>
          </a:xfrm>
          <a:prstGeom prst="oval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1545336"/>
            <a:ext cx="38496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start:cluster # PM2 cluster mode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pm2 start app.js -i max  # Todos los CPUs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pm2 scale app 8          # Escalar workers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pm2 reload app           # 0-downtime restart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pm2 monit                # Monitoreo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063240"/>
            <a:ext cx="4160520" cy="1828800"/>
          </a:xfrm>
          <a:prstGeom prst="rect">
            <a:avLst/>
          </a:prstGeom>
          <a:solidFill>
            <a:srgbClr val="1B2F4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063240"/>
            <a:ext cx="4160520" cy="274320"/>
          </a:xfrm>
          <a:prstGeom prst="rect">
            <a:avLst/>
          </a:prstGeom>
          <a:solidFill>
            <a:srgbClr val="4DB33D">
              <a:alpha val="20000"/>
            </a:srgbClr>
          </a:solidFill>
          <a:ln w="12700">
            <a:solidFill>
              <a:srgbClr val="4DB3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063240"/>
            <a:ext cx="64008" cy="274320"/>
          </a:xfrm>
          <a:prstGeom prst="rect">
            <a:avLst/>
          </a:prstGeom>
          <a:solidFill>
            <a:srgbClr val="4DB33D"/>
          </a:solidFill>
          <a:ln w="12700">
            <a:solidFill>
              <a:srgbClr val="4DB3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0632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B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🍃 MongoDB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355848"/>
            <a:ext cx="4069080" cy="148132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" y="3438144"/>
            <a:ext cx="91440" cy="91440"/>
          </a:xfrm>
          <a:prstGeom prst="oval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3438144"/>
            <a:ext cx="91440" cy="9144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" y="3438144"/>
            <a:ext cx="91440" cy="91440"/>
          </a:xfrm>
          <a:prstGeom prst="oval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584448"/>
            <a:ext cx="38496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rs.initiate()           # Iniciar Replica 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rs.status()             # Ver estado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rs.add('mongo2:27017')  # Agregar nodo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sh.enableSharding('db') # Habilitar sharding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sh.status()             # Estado del cluster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063240"/>
            <a:ext cx="4160520" cy="1828800"/>
          </a:xfrm>
          <a:prstGeom prst="rect">
            <a:avLst/>
          </a:prstGeom>
          <a:solidFill>
            <a:srgbClr val="1B2F4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063240"/>
            <a:ext cx="4160520" cy="274320"/>
          </a:xfrm>
          <a:prstGeom prst="rect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063240"/>
            <a:ext cx="64008" cy="274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30632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Antigravity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09160" y="3355848"/>
            <a:ext cx="4069080" cy="148132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18888" y="3438144"/>
            <a:ext cx="91440" cy="91440"/>
          </a:xfrm>
          <a:prstGeom prst="oval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83480" y="3438144"/>
            <a:ext cx="91440" cy="9144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48072" y="3438144"/>
            <a:ext cx="91440" cy="91440"/>
          </a:xfrm>
          <a:prstGeom prst="oval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3584448"/>
            <a:ext cx="38496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antigravity init        # Inicializar proyecto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antigravity deploy      # Desplegar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antigravity scale api 10# Escalar servicio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antigravity status      # Ver servicios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antigravity rollback    # Revertir deploy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Conclusiones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749808"/>
          </a:xfrm>
          <a:prstGeom prst="rect">
            <a:avLst/>
          </a:prstGeom>
          <a:solidFill>
            <a:srgbClr val="1B2F4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14400"/>
            <a:ext cx="420624" cy="420624"/>
          </a:xfrm>
          <a:prstGeom prst="oval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822960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Diseña para escalar desde el principio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097280"/>
            <a:ext cx="7726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health checks, config por ENV y graceful shutdown son obligatorios.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591056"/>
            <a:ext cx="8503920" cy="749808"/>
          </a:xfrm>
          <a:prstGeom prst="rect">
            <a:avLst/>
          </a:prstGeom>
          <a:solidFill>
            <a:srgbClr val="1B2F4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755648"/>
            <a:ext cx="420624" cy="420624"/>
          </a:xfrm>
          <a:prstGeom prst="oval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556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664208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Microservicios + Docker = escala independiente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938528"/>
            <a:ext cx="7726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puede escalar solo cuando lo necesita, ahorrando recursos.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432304"/>
            <a:ext cx="8503920" cy="749808"/>
          </a:xfrm>
          <a:prstGeom prst="rect">
            <a:avLst/>
          </a:prstGeom>
          <a:solidFill>
            <a:srgbClr val="1B2F4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596896"/>
            <a:ext cx="420624" cy="420624"/>
          </a:xfrm>
          <a:prstGeom prst="oval">
            <a:avLst/>
          </a:prstGeom>
          <a:solidFill>
            <a:srgbClr val="4DB33D"/>
          </a:solidFill>
          <a:ln w="12700">
            <a:solidFill>
              <a:srgbClr val="4DB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968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505456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B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 Replica Set como mínimo en producción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779776"/>
            <a:ext cx="7726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una sola instancia MongoDB en producción. Mínimo 3 nodos con Replica Set.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273552"/>
            <a:ext cx="8503920" cy="749808"/>
          </a:xfrm>
          <a:prstGeom prst="rect">
            <a:avLst/>
          </a:prstGeom>
          <a:solidFill>
            <a:srgbClr val="1B2F4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438144"/>
            <a:ext cx="420624" cy="420624"/>
          </a:xfrm>
          <a:prstGeom prst="oval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381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346704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Antigravity simplifica el deploy en producción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621024"/>
            <a:ext cx="7726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Docker Swarm, LB y escalamiento automático con comandos simples.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114800"/>
            <a:ext cx="8503920" cy="749808"/>
          </a:xfrm>
          <a:prstGeom prst="rect">
            <a:avLst/>
          </a:prstGeom>
          <a:solidFill>
            <a:srgbClr val="1B2F4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4279392"/>
            <a:ext cx="420624" cy="420624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279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4187952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Escalamiento horizontal &gt; vertical a largo plazo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462272"/>
            <a:ext cx="7726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disponibilidad, tolerancia a fallos y costos lineales valen la complejidad.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Escalamiento Vertical y Horizontal en Aplicaciones</dc:title>
  <dc:subject>PptxGenJS Presentation</dc:subject>
  <dc:creator>Presentación Técnica</dc:creator>
  <cp:lastModifiedBy>Presentación Técnica</cp:lastModifiedBy>
  <cp:revision>1</cp:revision>
  <dcterms:created xsi:type="dcterms:W3CDTF">2026-03-19T23:39:53Z</dcterms:created>
  <dcterms:modified xsi:type="dcterms:W3CDTF">2026-03-19T23:39:53Z</dcterms:modified>
</cp:coreProperties>
</file>